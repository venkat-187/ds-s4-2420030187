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62" r:id="rId3"/>
    <p:sldId id="707" r:id="rId4"/>
    <p:sldId id="257" r:id="rId5"/>
    <p:sldId id="903" r:id="rId6"/>
    <p:sldId id="902" r:id="rId7"/>
    <p:sldId id="905" r:id="rId8"/>
    <p:sldId id="904" r:id="rId9"/>
    <p:sldId id="906" r:id="rId10"/>
    <p:sldId id="258" r:id="rId11"/>
    <p:sldId id="908" r:id="rId12"/>
    <p:sldId id="909" r:id="rId13"/>
    <p:sldId id="259" r:id="rId14"/>
    <p:sldId id="2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 (bell curve)</c:v>
                </c:pt>
              </c:strCache>
            </c:strRef>
          </c:tx>
          <c:spPr>
            <a:ln w="31750">
              <a:solidFill>
                <a:srgbClr val="7F7F7F"/>
              </a:solidFill>
            </a:ln>
          </c:spPr>
          <c:marker>
            <c:symbol val="none"/>
          </c:marker>
          <c:cat>
            <c:strRef>
              <c:f>Sheet1!$A$2:$A$42</c:f>
              <c:strCache>
                <c:ptCount val="41"/>
                <c:pt idx="0">
                  <c:v>-5</c:v>
                </c:pt>
                <c:pt idx="1">
                  <c:v>  </c:v>
                </c:pt>
                <c:pt idx="2">
                  <c:v>   </c:v>
                </c:pt>
                <c:pt idx="3">
                  <c:v>    </c:v>
                </c:pt>
                <c:pt idx="4">
                  <c:v>-4</c:v>
                </c:pt>
                <c:pt idx="5">
                  <c:v>  </c:v>
                </c:pt>
                <c:pt idx="6">
                  <c:v>   </c:v>
                </c:pt>
                <c:pt idx="7">
                  <c:v>    </c:v>
                </c:pt>
                <c:pt idx="8">
                  <c:v>-3</c:v>
                </c:pt>
                <c:pt idx="9">
                  <c:v>  </c:v>
                </c:pt>
                <c:pt idx="10">
                  <c:v>   </c:v>
                </c:pt>
                <c:pt idx="11">
                  <c:v>    </c:v>
                </c:pt>
                <c:pt idx="12">
                  <c:v>-2</c:v>
                </c:pt>
                <c:pt idx="13">
                  <c:v>  </c:v>
                </c:pt>
                <c:pt idx="14">
                  <c:v>   </c:v>
                </c:pt>
                <c:pt idx="15">
                  <c:v>    </c:v>
                </c:pt>
                <c:pt idx="16">
                  <c:v>-1</c:v>
                </c:pt>
                <c:pt idx="17">
                  <c:v>  </c:v>
                </c:pt>
                <c:pt idx="18">
                  <c:v>   </c:v>
                </c:pt>
                <c:pt idx="19">
                  <c:v>    </c:v>
                </c:pt>
                <c:pt idx="20">
                  <c:v>0</c:v>
                </c:pt>
                <c:pt idx="21">
                  <c:v>  </c:v>
                </c:pt>
                <c:pt idx="22">
                  <c:v>   </c:v>
                </c:pt>
                <c:pt idx="23">
                  <c:v>    </c:v>
                </c:pt>
                <c:pt idx="24">
                  <c:v>1</c:v>
                </c:pt>
                <c:pt idx="25">
                  <c:v>  </c:v>
                </c:pt>
                <c:pt idx="26">
                  <c:v>   </c:v>
                </c:pt>
                <c:pt idx="27">
                  <c:v>    </c:v>
                </c:pt>
                <c:pt idx="28">
                  <c:v>2</c:v>
                </c:pt>
                <c:pt idx="29">
                  <c:v>  </c:v>
                </c:pt>
                <c:pt idx="30">
                  <c:v>   </c:v>
                </c:pt>
                <c:pt idx="31">
                  <c:v>    </c:v>
                </c:pt>
                <c:pt idx="32">
                  <c:v>3</c:v>
                </c:pt>
                <c:pt idx="33">
                  <c:v>  </c:v>
                </c:pt>
                <c:pt idx="34">
                  <c:v>   </c:v>
                </c:pt>
                <c:pt idx="35">
                  <c:v>    </c:v>
                </c:pt>
                <c:pt idx="36">
                  <c:v>4</c:v>
                </c:pt>
                <c:pt idx="37">
                  <c:v>  </c:v>
                </c:pt>
                <c:pt idx="38">
                  <c:v>   </c:v>
                </c:pt>
                <c:pt idx="39">
                  <c:v>    </c:v>
                </c:pt>
                <c:pt idx="40">
                  <c:v>5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1E-4</c:v>
                </c:pt>
                <c:pt idx="5">
                  <c:v>4.0000000000000002E-4</c:v>
                </c:pt>
                <c:pt idx="6">
                  <c:v>8.9999999999999998E-4</c:v>
                </c:pt>
                <c:pt idx="7">
                  <c:v>2E-3</c:v>
                </c:pt>
                <c:pt idx="8">
                  <c:v>4.4000000000000003E-3</c:v>
                </c:pt>
                <c:pt idx="9">
                  <c:v>9.1000000000000004E-3</c:v>
                </c:pt>
                <c:pt idx="10">
                  <c:v>1.7500000000000002E-2</c:v>
                </c:pt>
                <c:pt idx="11">
                  <c:v>3.1699999999999999E-2</c:v>
                </c:pt>
                <c:pt idx="12">
                  <c:v>5.3999999999999999E-2</c:v>
                </c:pt>
                <c:pt idx="13">
                  <c:v>8.6300000000000002E-2</c:v>
                </c:pt>
                <c:pt idx="14">
                  <c:v>0.1295</c:v>
                </c:pt>
                <c:pt idx="15">
                  <c:v>0.18260000000000001</c:v>
                </c:pt>
                <c:pt idx="16">
                  <c:v>0.24199999999999999</c:v>
                </c:pt>
                <c:pt idx="17">
                  <c:v>0.30109999999999998</c:v>
                </c:pt>
                <c:pt idx="18">
                  <c:v>0.35210000000000002</c:v>
                </c:pt>
                <c:pt idx="19">
                  <c:v>0.38669999999999999</c:v>
                </c:pt>
                <c:pt idx="20">
                  <c:v>0.39889999999999998</c:v>
                </c:pt>
                <c:pt idx="21">
                  <c:v>0.38669999999999999</c:v>
                </c:pt>
                <c:pt idx="22">
                  <c:v>0.35210000000000002</c:v>
                </c:pt>
                <c:pt idx="23">
                  <c:v>0.30109999999999998</c:v>
                </c:pt>
                <c:pt idx="24">
                  <c:v>0.24199999999999999</c:v>
                </c:pt>
                <c:pt idx="25">
                  <c:v>0.18260000000000001</c:v>
                </c:pt>
                <c:pt idx="26">
                  <c:v>0.1295</c:v>
                </c:pt>
                <c:pt idx="27">
                  <c:v>8.6300000000000002E-2</c:v>
                </c:pt>
                <c:pt idx="28">
                  <c:v>5.3999999999999999E-2</c:v>
                </c:pt>
                <c:pt idx="29">
                  <c:v>3.1699999999999999E-2</c:v>
                </c:pt>
                <c:pt idx="30">
                  <c:v>1.7500000000000002E-2</c:v>
                </c:pt>
                <c:pt idx="31">
                  <c:v>9.1000000000000004E-3</c:v>
                </c:pt>
                <c:pt idx="32">
                  <c:v>4.4000000000000003E-3</c:v>
                </c:pt>
                <c:pt idx="33">
                  <c:v>2E-3</c:v>
                </c:pt>
                <c:pt idx="34">
                  <c:v>8.9999999999999998E-4</c:v>
                </c:pt>
                <c:pt idx="35">
                  <c:v>4.0000000000000002E-4</c:v>
                </c:pt>
                <c:pt idx="36">
                  <c:v>1E-4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A18-4C9E-9942-81E78FF3E0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Fat-tailed returns</c:v>
                </c:pt>
              </c:strCache>
            </c:strRef>
          </c:tx>
          <c:spPr>
            <a:ln w="31750">
              <a:solidFill>
                <a:srgbClr val="C55A11"/>
              </a:solidFill>
            </a:ln>
          </c:spPr>
          <c:marker>
            <c:symbol val="none"/>
          </c:marker>
          <c:cat>
            <c:strRef>
              <c:f>Sheet1!$A$2:$A$42</c:f>
              <c:strCache>
                <c:ptCount val="41"/>
                <c:pt idx="0">
                  <c:v>-5</c:v>
                </c:pt>
                <c:pt idx="1">
                  <c:v>  </c:v>
                </c:pt>
                <c:pt idx="2">
                  <c:v>   </c:v>
                </c:pt>
                <c:pt idx="3">
                  <c:v>    </c:v>
                </c:pt>
                <c:pt idx="4">
                  <c:v>-4</c:v>
                </c:pt>
                <c:pt idx="5">
                  <c:v>  </c:v>
                </c:pt>
                <c:pt idx="6">
                  <c:v>   </c:v>
                </c:pt>
                <c:pt idx="7">
                  <c:v>    </c:v>
                </c:pt>
                <c:pt idx="8">
                  <c:v>-3</c:v>
                </c:pt>
                <c:pt idx="9">
                  <c:v>  </c:v>
                </c:pt>
                <c:pt idx="10">
                  <c:v>   </c:v>
                </c:pt>
                <c:pt idx="11">
                  <c:v>    </c:v>
                </c:pt>
                <c:pt idx="12">
                  <c:v>-2</c:v>
                </c:pt>
                <c:pt idx="13">
                  <c:v>  </c:v>
                </c:pt>
                <c:pt idx="14">
                  <c:v>   </c:v>
                </c:pt>
                <c:pt idx="15">
                  <c:v>    </c:v>
                </c:pt>
                <c:pt idx="16">
                  <c:v>-1</c:v>
                </c:pt>
                <c:pt idx="17">
                  <c:v>  </c:v>
                </c:pt>
                <c:pt idx="18">
                  <c:v>   </c:v>
                </c:pt>
                <c:pt idx="19">
                  <c:v>    </c:v>
                </c:pt>
                <c:pt idx="20">
                  <c:v>0</c:v>
                </c:pt>
                <c:pt idx="21">
                  <c:v>  </c:v>
                </c:pt>
                <c:pt idx="22">
                  <c:v>   </c:v>
                </c:pt>
                <c:pt idx="23">
                  <c:v>    </c:v>
                </c:pt>
                <c:pt idx="24">
                  <c:v>1</c:v>
                </c:pt>
                <c:pt idx="25">
                  <c:v>  </c:v>
                </c:pt>
                <c:pt idx="26">
                  <c:v>   </c:v>
                </c:pt>
                <c:pt idx="27">
                  <c:v>    </c:v>
                </c:pt>
                <c:pt idx="28">
                  <c:v>2</c:v>
                </c:pt>
                <c:pt idx="29">
                  <c:v>  </c:v>
                </c:pt>
                <c:pt idx="30">
                  <c:v>   </c:v>
                </c:pt>
                <c:pt idx="31">
                  <c:v>    </c:v>
                </c:pt>
                <c:pt idx="32">
                  <c:v>3</c:v>
                </c:pt>
                <c:pt idx="33">
                  <c:v>  </c:v>
                </c:pt>
                <c:pt idx="34">
                  <c:v>   </c:v>
                </c:pt>
                <c:pt idx="35">
                  <c:v>    </c:v>
                </c:pt>
                <c:pt idx="36">
                  <c:v>4</c:v>
                </c:pt>
                <c:pt idx="37">
                  <c:v>  </c:v>
                </c:pt>
                <c:pt idx="38">
                  <c:v>   </c:v>
                </c:pt>
                <c:pt idx="39">
                  <c:v>    </c:v>
                </c:pt>
                <c:pt idx="40">
                  <c:v>5</c:v>
                </c:pt>
              </c:strCache>
            </c: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8.9999999999999998E-4</c:v>
                </c:pt>
                <c:pt idx="1">
                  <c:v>1.1000000000000001E-3</c:v>
                </c:pt>
                <c:pt idx="2">
                  <c:v>1.4E-3</c:v>
                </c:pt>
                <c:pt idx="3">
                  <c:v>1.8E-3</c:v>
                </c:pt>
                <c:pt idx="4">
                  <c:v>2.2000000000000001E-3</c:v>
                </c:pt>
                <c:pt idx="5">
                  <c:v>2.8E-3</c:v>
                </c:pt>
                <c:pt idx="6">
                  <c:v>3.5999999999999999E-3</c:v>
                </c:pt>
                <c:pt idx="7">
                  <c:v>4.7999999999999996E-3</c:v>
                </c:pt>
                <c:pt idx="8">
                  <c:v>6.4000000000000003E-3</c:v>
                </c:pt>
                <c:pt idx="9">
                  <c:v>8.6999999999999994E-3</c:v>
                </c:pt>
                <c:pt idx="10">
                  <c:v>1.21E-2</c:v>
                </c:pt>
                <c:pt idx="11">
                  <c:v>1.7299999999999999E-2</c:v>
                </c:pt>
                <c:pt idx="12">
                  <c:v>2.5499999999999998E-2</c:v>
                </c:pt>
                <c:pt idx="13">
                  <c:v>3.8600000000000002E-2</c:v>
                </c:pt>
                <c:pt idx="14">
                  <c:v>6.0299999999999999E-2</c:v>
                </c:pt>
                <c:pt idx="15">
                  <c:v>9.7000000000000003E-2</c:v>
                </c:pt>
                <c:pt idx="16">
                  <c:v>0.15920000000000001</c:v>
                </c:pt>
                <c:pt idx="17">
                  <c:v>0.26079999999999998</c:v>
                </c:pt>
                <c:pt idx="18">
                  <c:v>0.40739999999999998</c:v>
                </c:pt>
                <c:pt idx="19">
                  <c:v>0.56389999999999996</c:v>
                </c:pt>
                <c:pt idx="20">
                  <c:v>0.63660000000000005</c:v>
                </c:pt>
                <c:pt idx="21">
                  <c:v>0.56389999999999996</c:v>
                </c:pt>
                <c:pt idx="22">
                  <c:v>0.40739999999999998</c:v>
                </c:pt>
                <c:pt idx="23">
                  <c:v>0.26079999999999998</c:v>
                </c:pt>
                <c:pt idx="24">
                  <c:v>0.15920000000000001</c:v>
                </c:pt>
                <c:pt idx="25">
                  <c:v>9.7000000000000003E-2</c:v>
                </c:pt>
                <c:pt idx="26">
                  <c:v>6.0299999999999999E-2</c:v>
                </c:pt>
                <c:pt idx="27">
                  <c:v>3.8600000000000002E-2</c:v>
                </c:pt>
                <c:pt idx="28">
                  <c:v>2.5499999999999998E-2</c:v>
                </c:pt>
                <c:pt idx="29">
                  <c:v>1.7299999999999999E-2</c:v>
                </c:pt>
                <c:pt idx="30">
                  <c:v>1.21E-2</c:v>
                </c:pt>
                <c:pt idx="31">
                  <c:v>8.6999999999999994E-3</c:v>
                </c:pt>
                <c:pt idx="32">
                  <c:v>6.4000000000000003E-3</c:v>
                </c:pt>
                <c:pt idx="33">
                  <c:v>4.7999999999999996E-3</c:v>
                </c:pt>
                <c:pt idx="34">
                  <c:v>3.5999999999999999E-3</c:v>
                </c:pt>
                <c:pt idx="35">
                  <c:v>2.8E-3</c:v>
                </c:pt>
                <c:pt idx="36">
                  <c:v>2.2000000000000001E-3</c:v>
                </c:pt>
                <c:pt idx="37">
                  <c:v>1.8E-3</c:v>
                </c:pt>
                <c:pt idx="38">
                  <c:v>1.4E-3</c:v>
                </c:pt>
                <c:pt idx="39">
                  <c:v>1.1000000000000001E-3</c:v>
                </c:pt>
                <c:pt idx="40">
                  <c:v>8.9999999999999998E-4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A18-4C9E-9942-81E78FF3E0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000" b="0">
                    <a:latin typeface="Arial"/>
                  </a:rPr>
                  <a:t>&lt;  large losses          average return          large gains  &gt;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one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latin typeface="Arial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1"/>
        <c:tickMarkSkip val="4"/>
        <c:noMultiLvlLbl val="0"/>
      </c:catAx>
      <c:valAx>
        <c:axId val="2140495176"/>
        <c:scaling>
          <c:orientation val="minMax"/>
          <c:max val="0.7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Arial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71943"/>
              </p:ext>
            </p:extLst>
          </p:nvPr>
        </p:nvGraphicFramePr>
        <p:xfrm>
          <a:off x="8193271" y="4898509"/>
          <a:ext cx="3702050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Srikar Jonnalagadda (2420030111)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G Venkata Varun (2420030187)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Kurra Pranav (2420030228)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167561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 Prathusha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Data Science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Market Return Distribution Analyzer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(24AD3107)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1371600" y="457200"/>
            <a:ext cx="941832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34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371600"/>
            <a:ext cx="6766560" cy="969264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rIns="137160" rtlCol="0" anchor="ctr">
            <a:no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Arial"/>
              </a:rPr>
              <a:t>Raw prices hide return behavior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2B2B2B"/>
                </a:solidFill>
                <a:latin typeface="Arial"/>
              </a:rPr>
              <a:t>Price history alone does not show how returns are distributed or how much they fluctuate. Returns must first be computed at daily, weekly and monthly horizons.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1645920"/>
            <a:ext cx="420624" cy="42062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9736"/>
            <a:ext cx="6766560" cy="969264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rIns="137160" rtlCol="0" anchor="ctr">
            <a:no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Arial"/>
              </a:rPr>
              <a:t>Risk needs more than an average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2B2B2B"/>
                </a:solidFill>
                <a:latin typeface="Arial"/>
              </a:rPr>
              <a:t>Variance, standard deviation, skewness and kurtosis describe volatility, asymmetry and fat tails, but are slow and error-prone to compute by hand.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2734056"/>
            <a:ext cx="420624" cy="42062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6766560" cy="969264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rIns="137160" rtlCol="0" anchor="ctr">
            <a:no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Arial"/>
              </a:rPr>
              <a:t>Extreme movements are easy to miss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2B2B2B"/>
                </a:solidFill>
                <a:latin typeface="Arial"/>
              </a:rPr>
              <a:t>Without histograms and distribution curves, extreme values and unusual market movements go unnoticed.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3822191"/>
            <a:ext cx="420624" cy="42062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36008"/>
            <a:ext cx="6766560" cy="969264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rIns="137160" rtlCol="0" anchor="ctr">
            <a:no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Arial"/>
              </a:rPr>
              <a:t>Assets and horizons are hard to compare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2B2B2B"/>
                </a:solidFill>
                <a:latin typeface="Arial"/>
              </a:rPr>
              <a:t>Stocks, cryptocurrencies and market indices may behave differently, and behavior changes with the time horizon. Without a consistent method, comparison stays subjective.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4910328"/>
            <a:ext cx="420624" cy="42062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ChartCard"/>
          <p:cNvSpPr/>
          <p:nvPr/>
        </p:nvSpPr>
        <p:spPr>
          <a:xfrm>
            <a:off x="7543800" y="1371600"/>
            <a:ext cx="4096512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1426464"/>
            <a:ext cx="3913632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Arial"/>
              </a:rPr>
              <a:t>Why the shape of returns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810512"/>
            <a:ext cx="391363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100" b="0" i="1">
                <a:solidFill>
                  <a:srgbClr val="5B7FA6"/>
                </a:solidFill>
                <a:latin typeface="Arial"/>
              </a:rPr>
              <a:t>Illustrative curves, same mean and spread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635240" y="2103120"/>
          <a:ext cx="3913632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635240" y="4846320"/>
            <a:ext cx="3913632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50" b="0" i="0">
                <a:solidFill>
                  <a:srgbClr val="2B2B2B"/>
                </a:solidFill>
                <a:latin typeface="Arial"/>
              </a:rPr>
              <a:t>Same average and spread, but the fat-tailed curve has a taller peak and heavier tails: moves beyond 3 SD are several times more likely. Mean and SD cannot show this; skewness and kurtosis can.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52160"/>
            <a:ext cx="11091672" cy="621792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6576" rIns="228600" bIns="36576" rtlCol="0" anchor="ctr">
            <a:noAutofit/>
          </a:bodyPr>
          <a:lstStyle/>
          <a:p>
            <a:pPr algn="l"/>
            <a:r>
              <a:rPr sz="1400" b="1" i="0">
                <a:solidFill>
                  <a:srgbClr val="9DC3E6"/>
                </a:solidFill>
                <a:latin typeface="Arial"/>
              </a:rPr>
              <a:t>Need: </a:t>
            </a:r>
            <a:r>
              <a:rPr sz="1400" b="0" i="0">
                <a:solidFill>
                  <a:srgbClr val="FFFFFF"/>
                </a:solidFill>
                <a:latin typeface="Arial"/>
              </a:rPr>
              <a:t>one simple analyzer that turns price history into returns and compares return distributions across asset classes and time horizons.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1371600" y="457200"/>
            <a:ext cx="941832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34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85800" rIns="182880" bIns="91440" rtlCol="0" anchor="t">
            <a:no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Arial"/>
              </a:rPr>
              <a:t>Compute returns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2B2B2B"/>
                </a:solidFill>
                <a:latin typeface="Arial"/>
              </a:rPr>
              <a:t>Calculate daily, weekly and monthly returns from historical price data of stocks, cryptocurrency (Bitcoin, Ethereum) and NIFTY 50.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536192"/>
            <a:ext cx="420624" cy="42062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5" y="137160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85800" rIns="182880" bIns="91440" rtlCol="0" anchor="t">
            <a:no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Arial"/>
              </a:rPr>
              <a:t>Organize data for analysis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2B2B2B"/>
                </a:solidFill>
                <a:latin typeface="Arial"/>
              </a:rPr>
              <a:t>Clean and align price data into structured return series, ready for statistical analysis.</a:t>
            </a:r>
          </a:p>
        </p:txBody>
      </p:sp>
      <p:sp>
        <p:nvSpPr>
          <p:cNvPr id="9" name="Oval 8"/>
          <p:cNvSpPr/>
          <p:nvPr/>
        </p:nvSpPr>
        <p:spPr>
          <a:xfrm>
            <a:off x="4517136" y="1536192"/>
            <a:ext cx="420624" cy="42062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1" y="137160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85800" rIns="182880" bIns="91440" rtlCol="0" anchor="t">
            <a:no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Arial"/>
              </a:rPr>
              <a:t>Measure key statistics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2B2B2B"/>
                </a:solidFill>
                <a:latin typeface="Arial"/>
              </a:rPr>
              <a:t>Analyze mean, median, variance, standard deviation, skewness and kurtosis for every asset and time horizon.</a:t>
            </a:r>
          </a:p>
        </p:txBody>
      </p:sp>
      <p:sp>
        <p:nvSpPr>
          <p:cNvPr id="11" name="Oval 10"/>
          <p:cNvSpPr/>
          <p:nvPr/>
        </p:nvSpPr>
        <p:spPr>
          <a:xfrm>
            <a:off x="8302751" y="1536192"/>
            <a:ext cx="420624" cy="42062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85800" rIns="182880" bIns="91440" rtlCol="0" anchor="t">
            <a:no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Arial"/>
              </a:rPr>
              <a:t>Visualize distributions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2B2B2B"/>
                </a:solidFill>
                <a:latin typeface="Arial"/>
              </a:rPr>
              <a:t>Use histograms and distribution curves to reveal patterns, extreme values and unusual market movements.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867911"/>
            <a:ext cx="420624" cy="42062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5" y="37033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85800" rIns="182880" bIns="91440" rtlCol="0" anchor="t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Compare across assets and horizons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FFFFFF"/>
                </a:solidFill>
                <a:latin typeface="Arial"/>
              </a:rPr>
              <a:t>Compare return distributions and volatility across asset classes and across daily, weekly and monthly returns.</a:t>
            </a:r>
          </a:p>
        </p:txBody>
      </p:sp>
      <p:sp>
        <p:nvSpPr>
          <p:cNvPr id="15" name="Oval 14"/>
          <p:cNvSpPr/>
          <p:nvPr/>
        </p:nvSpPr>
        <p:spPr>
          <a:xfrm>
            <a:off x="4517136" y="3867911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500" b="1" i="0">
                <a:solidFill>
                  <a:srgbClr val="1F4E79"/>
                </a:solidFill>
                <a:latin typeface="Arial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37376" y="3904487"/>
            <a:ext cx="1234440" cy="329184"/>
          </a:xfrm>
          <a:prstGeom prst="roundRect">
            <a:avLst>
              <a:gd name="adj" fmla="val 6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1F4E79"/>
                </a:solidFill>
                <a:latin typeface="Arial"/>
              </a:rPr>
              <a:t>RESEARCH FOCUS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1" y="37033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85800" rIns="182880" bIns="91440" rtlCol="0" anchor="t">
            <a:no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Arial"/>
              </a:rPr>
              <a:t>Understand risk versus return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2B2B2B"/>
                </a:solidFill>
                <a:latin typeface="Arial"/>
              </a:rPr>
              <a:t>Relate average return to volatility to help investors and researchers make informed comparisons.</a:t>
            </a:r>
          </a:p>
        </p:txBody>
      </p:sp>
      <p:sp>
        <p:nvSpPr>
          <p:cNvPr id="18" name="Oval 17"/>
          <p:cNvSpPr/>
          <p:nvPr/>
        </p:nvSpPr>
        <p:spPr>
          <a:xfrm>
            <a:off x="8302751" y="3867911"/>
            <a:ext cx="420624" cy="42062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300" b="0" i="1">
                <a:solidFill>
                  <a:srgbClr val="5B7FA6"/>
                </a:solidFill>
                <a:latin typeface="Arial"/>
              </a:rPr>
              <a:t>Stock analysis remains the core of the project; cryptocurrency and NIFTY 50 extend the same analysis for comparison.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3569947"/>
              </p:ext>
            </p:extLst>
          </p:nvPr>
        </p:nvGraphicFramePr>
        <p:xfrm>
          <a:off x="274646" y="689466"/>
          <a:ext cx="11642705" cy="49209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00">
                <a:tc>
                  <a:txBody>
                    <a:bodyPr/>
                    <a:lstStyle/>
                    <a:p>
                      <a:pPr marL="0" algn="l"/>
                      <a:r>
                        <a:rPr lang="en-IN" sz="115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Massing &amp; Ramos [2021]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15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Student's t Mixture Models for Stock Indices: A Comparative Study, Physica A, 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15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Fitted several distribution models to daily and hourly log-returns of equity indices from different countries; compared fits using KS, Anderson–Darling, AIC and 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15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 mixture of three Student's t distributions fits best; its components describe the extreme, moderate and small returns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15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Concentrates on model fitting; does not provide an interactive tool for analyzing returns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130000">
                <a:tc>
                  <a:txBody>
                    <a:bodyPr/>
                    <a:lstStyle/>
                    <a:p>
                      <a:pPr marL="0" algn="l"/>
                      <a:r>
                        <a:rPr lang="en-IN" sz="115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Wątorek, Kwapień &amp; Drożdż [2021]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15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Financial Return Distributions: Past, Present, and COVID-19, Entropy, 23(7), 884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15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Analyzed 2017–2020 return distributions of currencies, cryptocurrencies and CFDs on stocks, indices and commodities; modeled tails with power-law, stretched exponential and q-Gaussian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15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The 'inverse-cubic' power law is still a fair reference at short horizons; the earlier trend toward faster convergence to normality is no longer seen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15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Mixes several asset types; not aimed at comparing individual stocks over daily, weekly or monthly periods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954026"/>
                  </a:ext>
                </a:extLst>
              </a:tr>
              <a:tr h="1130000">
                <a:tc>
                  <a:txBody>
                    <a:bodyPr/>
                    <a:lstStyle/>
                    <a:p>
                      <a:pPr marL="0" algn="l"/>
                      <a:r>
                        <a:rPr lang="en-IN" sz="115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Mata, Núñez &amp; Serrano [2021]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15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Multivariate Distribution in the Stock Markets of Brazil, Russia, India, and China, SAGE Open, 11(2)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15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Fitted a multivariate Normal Inverse Gaussian (NIG) distribution to BRIC stock market returns and estimated a robust correlation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15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Found evidence of integration among BRIC markets; Value at Risk performed better with NIG than with multivariate GARCH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15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Focuses on cross-market dependence and VaR; no visual tools for single-stock return distributions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386806"/>
                  </a:ext>
                </a:extLst>
              </a:tr>
              <a:tr h="1130000">
                <a:tc>
                  <a:txBody>
                    <a:bodyPr/>
                    <a:lstStyle/>
                    <a:p>
                      <a:pPr marL="0" algn="l"/>
                      <a:r>
                        <a:rPr lang="en-IN" sz="115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Eom, Kaizoji, Livan &amp; Scalas [2021]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15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Limitations of Portfolio Diversification Through Fat Tails of the Return Distributions, N. Am. J. Econ. Finance, 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15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Measured tail fatness of return distributions and how it changes as more stocks are added to a portfolio, using Korean data with checks on China, Japan and Taiwan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15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Tail fatness is not eliminated by diversification: the positive tail thins while the negative tail grows fatter, explaining losses in crashes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15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Limited to Northeast Asian markets; studies portfolio tail risk rather than general return statistics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62891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3300000" y="136525"/>
            <a:ext cx="56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 (1/3)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47379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0000"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Eom, Eom &amp; Park [2023]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Left-Tail Momentum and Tail Properties of Return Distributions: A Case of Korea, Int. Rev. Financial Analysis, 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Studied cross-sectional differences in the tail properties of stocks' return distributions in the Korean market in relation to left-tail 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Tail properties differ across stocks and must be considered when analyzing the left-tail momentum 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Single market (Korea); centered on momentum strategies, not on general distribution measures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450000"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Mamilla et al. [2023]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COVID-19 Pandemic and Indices Volatility: Evidence from GARCH Models, J. Risk Financial Manag., 16(10), 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Applied ARCH/GARCH models to nine NSE indices before, during and after COVID-19 to study volatility and returns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Nifty Realty was the most volatile index; Bank, Metal and IT indices gave higher returns during COVID-19 than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Focused on volatility forecasting of Indian indices; not on visual comparison of return distributions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045219"/>
                  </a:ext>
                </a:extLst>
              </a:tr>
              <a:tr h="1450000"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Welch [2024]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 Heuristic for Fat-Tailed Stock Market Returns, Financial Analysts Journal, 80(4), 18–26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Used historical U.S. stock return data to derive a simple adjustment to Z-scores for left-tail probabilities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Large losses occur more often than the normal predicts; returns behave roughly like Student-t with 2 to 5 degrees of freedom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Addresses only left-tail probabilities; does not cover mean, skewness or cross-stock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52866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3300000" y="136525"/>
            <a:ext cx="56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 (2/3)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47379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0000"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Liu, Maynard &amp; Tsiakas [2024] (working paper)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Robust Conditional Kurtosis and the Cross-Section of International Stock Returns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Introduced a quantile-based robust kurtosis measure and tested it on monthly returns of 39 country indices (1996–2019) using portfolio sorts and Fama–MacBeth regressions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Higher robust kurtosis predicts lower future returns, mainly in developed markets; robust skewness carries a positive premium, mainly in emerging markets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Uses country indices rather than individual stocks; a research method, not a user-facing tool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450000"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Kan &amp; Lassance [2025]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Optimal Portfolio Choice with Fat Tails and Parameter Uncertainty, J. Financial and Quantitative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Analyzed how fat-tailed returns affect the out-of-sample performance of sample mean–variance and global minimum-variance portfolios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Fat tails worsen out-of-sample performance of these portfolios; accounting for fat tails improves the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Aimed at portfolio weights, not at describing the return distribution of individual stocks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139163"/>
                  </a:ext>
                </a:extLst>
              </a:tr>
              <a:tr h="1450000"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Sharma [2025] (arXiv preprint)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Multi-Scale Analysis of Nifty 50: Return Characteristics, Valuation Dynamics and Market Complexity (1990–2024)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Built empirical return distributions (histogram-based, Freedman–Diaconis bins) of the Nifty 50 for horizons from one day to 12 years, plus entropy, Hurst and Lyapunov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Returns are asymmetric: one-day returns are mildly positively skewed with 56% positive days; one-year returns show a 74% chance of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IN" sz="1300" b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Covers a single index and is a preprint; no stock-level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31195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3300000" y="136525"/>
            <a:ext cx="56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 (3/3)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7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1371600" y="457200"/>
            <a:ext cx="941832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3400" b="1" dirty="0"/>
              <a:t>Literature Survey: Key Themes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371600"/>
            <a:ext cx="7086600" cy="10058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37160" bIns="36576" rtlCol="0" anchor="ctr">
            <a:noAutofit/>
          </a:bodyPr>
          <a:lstStyle/>
          <a:p>
            <a:pPr algn="l"/>
            <a:r>
              <a:rPr sz="1450" b="1" i="0">
                <a:solidFill>
                  <a:srgbClr val="1F4E79"/>
                </a:solidFill>
                <a:latin typeface="Arial"/>
              </a:rPr>
              <a:t>Returns are not normal: fat tails matter</a:t>
            </a:r>
          </a:p>
          <a:p>
            <a:pPr algn="l">
              <a:spcBef>
                <a:spcPts val="100"/>
              </a:spcBef>
            </a:pPr>
            <a:r>
              <a:rPr sz="1100" b="1" i="0">
                <a:solidFill>
                  <a:srgbClr val="0070C0"/>
                </a:solidFill>
                <a:latin typeface="Arial"/>
              </a:rPr>
              <a:t>Massing &amp; Ramos (2021); Eom et al. (2021, 2023); Welch (2024)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2B2B2B"/>
                </a:solidFill>
                <a:latin typeface="Arial"/>
              </a:rPr>
              <a:t>Large losses and extreme moves occur more often than a Normal distribution predicts; tail behavior differs across stocks.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699248" y="1719072"/>
            <a:ext cx="384048" cy="310896"/>
          </a:xfrm>
          <a:prstGeom prst="rightArrow">
            <a:avLst/>
          </a:prstGeom>
          <a:solidFill>
            <a:srgbClr val="5B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156448" y="1371600"/>
            <a:ext cx="348386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09728" bIns="36576" rtlCol="0" anchor="ctr">
            <a:noAutofit/>
          </a:bodyPr>
          <a:lstStyle/>
          <a:p>
            <a:pPr algn="l"/>
            <a:r>
              <a:rPr sz="950" b="1" i="0">
                <a:solidFill>
                  <a:srgbClr val="0070C0"/>
                </a:solidFill>
                <a:latin typeface="Arial"/>
              </a:rPr>
              <a:t>HOW WE USE IT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2B2B2B"/>
                </a:solidFill>
                <a:latin typeface="Arial"/>
              </a:rPr>
              <a:t>Report skewness and kurtosis; overlay a Normal curve on each histogram.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96312"/>
            <a:ext cx="7086600" cy="10058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37160" bIns="36576" rtlCol="0" anchor="ctr">
            <a:noAutofit/>
          </a:bodyPr>
          <a:lstStyle/>
          <a:p>
            <a:pPr algn="l"/>
            <a:r>
              <a:rPr sz="1450" b="1" i="0">
                <a:solidFill>
                  <a:srgbClr val="1F4E79"/>
                </a:solidFill>
                <a:latin typeface="Arial"/>
              </a:rPr>
              <a:t>Distributions differ across asset types and horizons</a:t>
            </a:r>
          </a:p>
          <a:p>
            <a:pPr algn="l">
              <a:spcBef>
                <a:spcPts val="100"/>
              </a:spcBef>
            </a:pPr>
            <a:r>
              <a:rPr sz="1100" b="1" i="0">
                <a:solidFill>
                  <a:srgbClr val="0070C0"/>
                </a:solidFill>
                <a:latin typeface="Arial"/>
              </a:rPr>
              <a:t>Wątorek et al. (2021); Sharma (2025)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2B2B2B"/>
                </a:solidFill>
                <a:latin typeface="Arial"/>
              </a:rPr>
              <a:t>Return distributions were studied for several asset types (incl. cryptocurrencies) and, for Nifty 50, for horizons from one day to 12 years.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699248" y="2843784"/>
            <a:ext cx="384048" cy="310896"/>
          </a:xfrm>
          <a:prstGeom prst="rightArrow">
            <a:avLst/>
          </a:prstGeom>
          <a:solidFill>
            <a:srgbClr val="5B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156448" y="2496312"/>
            <a:ext cx="348386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09728" bIns="36576" rtlCol="0" anchor="ctr">
            <a:noAutofit/>
          </a:bodyPr>
          <a:lstStyle/>
          <a:p>
            <a:pPr algn="l"/>
            <a:r>
              <a:rPr sz="950" b="1" i="0">
                <a:solidFill>
                  <a:srgbClr val="0070C0"/>
                </a:solidFill>
                <a:latin typeface="Arial"/>
              </a:rPr>
              <a:t>HOW WE USE IT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2B2B2B"/>
                </a:solidFill>
                <a:latin typeface="Arial"/>
              </a:rPr>
              <a:t>Compare stocks, cryptocurrency and NIFTY 50 at daily, weekly and monthly horizons.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21024"/>
            <a:ext cx="7086600" cy="10058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37160" bIns="36576" rtlCol="0" anchor="ctr">
            <a:noAutofit/>
          </a:bodyPr>
          <a:lstStyle/>
          <a:p>
            <a:pPr algn="l"/>
            <a:r>
              <a:rPr sz="1450" b="1" i="0">
                <a:solidFill>
                  <a:srgbClr val="1F4E79"/>
                </a:solidFill>
                <a:latin typeface="Arial"/>
              </a:rPr>
              <a:t>Volatility varies across indices and periods</a:t>
            </a:r>
          </a:p>
          <a:p>
            <a:pPr algn="l">
              <a:spcBef>
                <a:spcPts val="100"/>
              </a:spcBef>
            </a:pPr>
            <a:r>
              <a:rPr sz="1100" b="1" i="0">
                <a:solidFill>
                  <a:srgbClr val="0070C0"/>
                </a:solidFill>
                <a:latin typeface="Arial"/>
              </a:rPr>
              <a:t>Mamilla et al. (2023); Sharma (2025)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2B2B2B"/>
                </a:solidFill>
                <a:latin typeface="Arial"/>
              </a:rPr>
              <a:t>NSE index volatility and returns changed before, during and after COVID-19; Nifty 50 returns are asymmetric.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99248" y="3968496"/>
            <a:ext cx="384048" cy="310896"/>
          </a:xfrm>
          <a:prstGeom prst="rightArrow">
            <a:avLst/>
          </a:prstGeom>
          <a:solidFill>
            <a:srgbClr val="5B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156448" y="3621024"/>
            <a:ext cx="348386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09728" bIns="36576" rtlCol="0" anchor="ctr">
            <a:noAutofit/>
          </a:bodyPr>
          <a:lstStyle/>
          <a:p>
            <a:pPr algn="l"/>
            <a:r>
              <a:rPr sz="950" b="1" i="0">
                <a:solidFill>
                  <a:srgbClr val="0070C0"/>
                </a:solidFill>
                <a:latin typeface="Arial"/>
              </a:rPr>
              <a:t>HOW WE USE IT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2B2B2B"/>
                </a:solidFill>
                <a:latin typeface="Arial"/>
              </a:rPr>
              <a:t>Use NIFTY 50 as the index benchmark and standard deviation as the volatility measure.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45736"/>
            <a:ext cx="7086600" cy="10058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37160" bIns="36576" rtlCol="0" anchor="ctr">
            <a:noAutofit/>
          </a:bodyPr>
          <a:lstStyle/>
          <a:p>
            <a:pPr algn="l"/>
            <a:r>
              <a:rPr sz="1450" b="1" i="0">
                <a:solidFill>
                  <a:srgbClr val="1F4E79"/>
                </a:solidFill>
                <a:latin typeface="Arial"/>
              </a:rPr>
              <a:t>Advanced models: dependence, VaR and portfolios</a:t>
            </a:r>
          </a:p>
          <a:p>
            <a:pPr algn="l">
              <a:spcBef>
                <a:spcPts val="100"/>
              </a:spcBef>
            </a:pPr>
            <a:r>
              <a:rPr sz="1100" b="1" i="0">
                <a:solidFill>
                  <a:srgbClr val="0070C0"/>
                </a:solidFill>
                <a:latin typeface="Arial"/>
              </a:rPr>
              <a:t>Mata et al. (2021); Liu et al. (2024); Kan &amp; Lassance (2025)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2B2B2B"/>
                </a:solidFill>
                <a:latin typeface="Arial"/>
              </a:rPr>
              <a:t>Multivariate distributions, robust kurtosis and fat-tailed portfolio choice: powerful but model-heavy research methods.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943600"/>
            <a:ext cx="11091672" cy="5029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" rIns="228600" bIns="18288" rtlCol="0" anchor="ctr">
            <a:noAutofit/>
          </a:bodyPr>
          <a:lstStyle/>
          <a:p>
            <a:pPr algn="l"/>
            <a:r>
              <a:rPr sz="1300" b="1" i="0">
                <a:solidFill>
                  <a:srgbClr val="9DC3E6"/>
                </a:solidFill>
                <a:latin typeface="Arial"/>
              </a:rPr>
              <a:t>Common limitation: </a:t>
            </a:r>
            <a:r>
              <a:rPr sz="1300" b="0" i="0">
                <a:solidFill>
                  <a:srgbClr val="FFFFFF"/>
                </a:solidFill>
                <a:latin typeface="Arial"/>
              </a:rPr>
              <a:t>each study centers on one market, asset type or modelling method, and is a research study rather than an interactive analyzer.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1371600" y="457200"/>
            <a:ext cx="941832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34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280160"/>
            <a:ext cx="5394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 i="0">
                <a:solidFill>
                  <a:srgbClr val="5B7FA6"/>
                </a:solidFill>
                <a:latin typeface="Arial"/>
              </a:rPr>
              <a:t>What existing work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28016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 i="0">
                <a:solidFill>
                  <a:srgbClr val="0070C0"/>
                </a:solidFill>
                <a:latin typeface="Arial"/>
              </a:rPr>
              <a:t>Gap this project addresses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37160" bIns="36576" rtlCol="0" anchor="ctr">
            <a:no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Arial"/>
              </a:rPr>
              <a:t>Prices alone are not enough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2B2B2B"/>
                </a:solidFill>
                <a:latin typeface="Arial"/>
              </a:rPr>
              <a:t>Price charts show direction over time, not the shape of the return distribution or how risky returns are.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108192" y="2061972"/>
            <a:ext cx="365760" cy="310896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47104" y="1691640"/>
            <a:ext cx="5093208" cy="105156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6576" rIns="182880" bIns="36576" rtlCol="0" anchor="ctr">
            <a:no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Arial"/>
              </a:rPr>
              <a:t>Convert prices into daily, weekly and monthly returns and study their distribution.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036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37160" bIns="36576" rtlCol="0" anchor="ctr">
            <a:no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Arial"/>
              </a:rPr>
              <a:t>Mean and deviation miss the full picture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2B2B2B"/>
                </a:solidFill>
                <a:latin typeface="Arial"/>
              </a:rPr>
              <a:t>Skewness and kurtosis capture asymmetry and fat tails (Welch, 2024; Eom et al., 2021).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108192" y="3250691"/>
            <a:ext cx="365760" cy="310896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47104" y="2880360"/>
            <a:ext cx="5093208" cy="105156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6576" rIns="182880" bIns="36576" rtlCol="0" anchor="ctr">
            <a:no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Arial"/>
              </a:rPr>
              <a:t>Present a complete profile: mean, median, variance, standard deviation, skewness, kurtosis.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79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37160" bIns="36576" rtlCol="0" anchor="ctr">
            <a:no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Arial"/>
              </a:rPr>
              <a:t>Studies focus on one aspect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2B2B2B"/>
                </a:solidFill>
                <a:latin typeface="Arial"/>
              </a:rPr>
              <a:t>Each paper typically centers on one market, one asset type or one modelling method (see Limitation column).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08192" y="4439412"/>
            <a:ext cx="365760" cy="310896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47104" y="4069079"/>
            <a:ext cx="5093208" cy="105156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6576" rIns="182880" bIns="36576" rtlCol="0" anchor="ctr">
            <a:no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Arial"/>
              </a:rPr>
              <a:t>Compare stocks, cryptocurrency and NIFTY 50 across time horizons in one place.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5780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37160" bIns="36576" rtlCol="0" anchor="ctr">
            <a:no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Arial"/>
              </a:rPr>
              <a:t>Findings are not packaged as a simple tool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2B2B2B"/>
                </a:solidFill>
                <a:latin typeface="Arial"/>
              </a:rPr>
              <a:t>Empirical studies show returns are not normal, but they are research studies, not reusable analyzers for students or investors.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108192" y="5628132"/>
            <a:ext cx="365760" cy="310896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47104" y="5257800"/>
            <a:ext cx="5093208" cy="105156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6576" rIns="182880" bIns="36576" rtlCol="0" anchor="ctr">
            <a:no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Arial"/>
              </a:rPr>
              <a:t>One interactive system: returns, statistics, visuals and comparison together.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1371600" y="457200"/>
            <a:ext cx="941832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3400" b="1" dirty="0"/>
              <a:t>Proposed Methodology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Pentagon 5"/>
          <p:cNvSpPr/>
          <p:nvPr/>
        </p:nvSpPr>
        <p:spPr>
          <a:xfrm>
            <a:off x="548640" y="1371600"/>
            <a:ext cx="2212848" cy="640080"/>
          </a:xfrm>
          <a:prstGeom prst="homePlate">
            <a:avLst>
              <a:gd name="adj" fmla="val 2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201168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  Collect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2103120" cy="17830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09728" bIns="91440" rtlCol="0" anchor="t">
            <a:no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Arial"/>
              </a:rPr>
              <a:t>Historical closing prices from Yahoo Finance (Python yfinance) for stocks, Bitcoin, Ethereum and NIFTY 50.</a:t>
            </a:r>
          </a:p>
        </p:txBody>
      </p:sp>
      <p:sp>
        <p:nvSpPr>
          <p:cNvPr id="8" name="Chevron 7"/>
          <p:cNvSpPr/>
          <p:nvPr/>
        </p:nvSpPr>
        <p:spPr>
          <a:xfrm>
            <a:off x="2795778" y="1371600"/>
            <a:ext cx="2212848" cy="640080"/>
          </a:xfrm>
          <a:prstGeom prst="chevron">
            <a:avLst>
              <a:gd name="adj" fmla="val 2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0" rIns="201168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  Clean and align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5778" y="2148840"/>
            <a:ext cx="2103120" cy="17830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09728" bIns="91440" rtlCol="0" anchor="t">
            <a:no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Arial"/>
              </a:rPr>
              <a:t>Handle missing values and use a common date range. Crypto trades every day; stocks only on trading days.</a:t>
            </a:r>
          </a:p>
        </p:txBody>
      </p:sp>
      <p:sp>
        <p:nvSpPr>
          <p:cNvPr id="10" name="Chevron 9"/>
          <p:cNvSpPr/>
          <p:nvPr/>
        </p:nvSpPr>
        <p:spPr>
          <a:xfrm>
            <a:off x="5042916" y="1371600"/>
            <a:ext cx="2212848" cy="640080"/>
          </a:xfrm>
          <a:prstGeom prst="chevron">
            <a:avLst>
              <a:gd name="adj" fmla="val 2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0" rIns="201168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  Compute returns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2916" y="2148840"/>
            <a:ext cx="2103120" cy="17830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09728" bIns="91440" rtlCol="0" anchor="t">
            <a:no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Arial"/>
              </a:rPr>
              <a:t>Daily, weekly (week-end price) and monthly (month-end price) percentage returns.</a:t>
            </a:r>
          </a:p>
        </p:txBody>
      </p:sp>
      <p:sp>
        <p:nvSpPr>
          <p:cNvPr id="12" name="Chevron 11"/>
          <p:cNvSpPr/>
          <p:nvPr/>
        </p:nvSpPr>
        <p:spPr>
          <a:xfrm>
            <a:off x="7290054" y="1371600"/>
            <a:ext cx="2212848" cy="640080"/>
          </a:xfrm>
          <a:prstGeom prst="chevron">
            <a:avLst>
              <a:gd name="adj" fmla="val 2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0" rIns="201168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  Measure statistics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0054" y="2148840"/>
            <a:ext cx="2103120" cy="17830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09728" bIns="91440" rtlCol="0" anchor="t">
            <a:no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Arial"/>
              </a:rPr>
              <a:t>Mean, median, variance, standard deviation, skewness and kurtosis for each asset and horizon.</a:t>
            </a:r>
          </a:p>
        </p:txBody>
      </p:sp>
      <p:sp>
        <p:nvSpPr>
          <p:cNvPr id="14" name="Chevron 13"/>
          <p:cNvSpPr/>
          <p:nvPr/>
        </p:nvSpPr>
        <p:spPr>
          <a:xfrm>
            <a:off x="9537192" y="1371600"/>
            <a:ext cx="2212848" cy="640080"/>
          </a:xfrm>
          <a:prstGeom prst="chevron">
            <a:avLst>
              <a:gd name="adj" fmla="val 2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0" rIns="201168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  Visualize and compare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37192" y="2148840"/>
            <a:ext cx="2103120" cy="17830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09728" bIns="91440" rtlCol="0" anchor="t">
            <a:no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Arial"/>
              </a:rPr>
              <a:t>Histogram with Normal curve, extreme-movement counts, worst/best days, risk-return comparison.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4343400"/>
            <a:ext cx="61722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37160" bIns="73152" rtlCol="0" anchor="ctr">
            <a:no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Arial"/>
              </a:rPr>
              <a:t>Key definitions (all standard, easy to explain)</a:t>
            </a:r>
          </a:p>
          <a:p>
            <a:pPr marL="171450" indent="-171450" algn="l">
              <a:spcBef>
                <a:spcPts val="500"/>
              </a:spcBef>
              <a:buClr>
                <a:srgbClr val="0070C0"/>
              </a:buClr>
              <a:buFont typeface="Arial"/>
              <a:buChar char="•"/>
            </a:pPr>
            <a:r>
              <a:rPr sz="1350" b="0" i="0">
                <a:solidFill>
                  <a:srgbClr val="2B2B2B"/>
                </a:solidFill>
                <a:latin typeface="Arial"/>
              </a:rPr>
              <a:t>Return = (price today - previous price) / previous price</a:t>
            </a:r>
          </a:p>
          <a:p>
            <a:pPr marL="171450" indent="-171450" algn="l">
              <a:spcBef>
                <a:spcPts val="300"/>
              </a:spcBef>
              <a:buClr>
                <a:srgbClr val="0070C0"/>
              </a:buClr>
              <a:buFont typeface="Arial"/>
              <a:buChar char="•"/>
            </a:pPr>
            <a:r>
              <a:rPr sz="1350" b="0" i="0">
                <a:solidFill>
                  <a:srgbClr val="2B2B2B"/>
                </a:solidFill>
                <a:latin typeface="Arial"/>
              </a:rPr>
              <a:t>Volatility = standard deviation of returns</a:t>
            </a:r>
          </a:p>
          <a:p>
            <a:pPr marL="171450" indent="-171450" algn="l">
              <a:spcBef>
                <a:spcPts val="300"/>
              </a:spcBef>
              <a:buClr>
                <a:srgbClr val="0070C0"/>
              </a:buClr>
              <a:buFont typeface="Arial"/>
              <a:buChar char="•"/>
            </a:pPr>
            <a:r>
              <a:rPr sz="1350" b="0" i="0">
                <a:solidFill>
                  <a:srgbClr val="2B2B2B"/>
                </a:solidFill>
                <a:latin typeface="Arial"/>
              </a:rPr>
              <a:t>Excess kurtosis: 0 for a Normal curve; above 0 means fat tails</a:t>
            </a:r>
          </a:p>
          <a:p>
            <a:pPr marL="171450" indent="-171450" algn="l">
              <a:spcBef>
                <a:spcPts val="300"/>
              </a:spcBef>
              <a:buClr>
                <a:srgbClr val="0070C0"/>
              </a:buClr>
              <a:buFont typeface="Arial"/>
              <a:buChar char="•"/>
            </a:pPr>
            <a:r>
              <a:rPr sz="1350" b="0" i="0">
                <a:solidFill>
                  <a:srgbClr val="2B2B2B"/>
                </a:solidFill>
                <a:latin typeface="Arial"/>
              </a:rPr>
              <a:t>Extreme movement = return beyond 3 standard deviations (a Normal curve gives about 0.3%)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1371600" y="457200"/>
            <a:ext cx="941832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3400" b="1" dirty="0"/>
              <a:t>System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1371600"/>
            <a:ext cx="8412480" cy="868680"/>
          </a:xfrm>
          <a:prstGeom prst="roundRect">
            <a:avLst>
              <a:gd name="adj" fmla="val 6000"/>
            </a:avLst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6576" rIns="182880" bIns="36576" rtlCol="0" anchor="ctr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Presentation Layer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FFFFFF"/>
                </a:solidFill>
                <a:latin typeface="Arial"/>
              </a:rPr>
              <a:t>Streamlit dashboard — choose asset, horizon (daily / weekly / monthly) and period</a:t>
            </a:r>
          </a:p>
        </p:txBody>
      </p:sp>
      <p:sp>
        <p:nvSpPr>
          <p:cNvPr id="7" name="Down Arrow 6"/>
          <p:cNvSpPr/>
          <p:nvPr/>
        </p:nvSpPr>
        <p:spPr>
          <a:xfrm>
            <a:off x="4956048" y="2221992"/>
            <a:ext cx="329184" cy="219456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8412480" cy="86868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6576" rIns="182880" bIns="36576" rtlCol="0" anchor="ctr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Analysis Layer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FFFFFF"/>
                </a:solidFill>
                <a:latin typeface="Arial"/>
              </a:rPr>
              <a:t>Descriptive statistics, histograms + Normal curve, extreme-movement detection, risk-vs-return comparison</a:t>
            </a:r>
          </a:p>
        </p:txBody>
      </p:sp>
      <p:sp>
        <p:nvSpPr>
          <p:cNvPr id="9" name="Down Arrow 8"/>
          <p:cNvSpPr/>
          <p:nvPr/>
        </p:nvSpPr>
        <p:spPr>
          <a:xfrm>
            <a:off x="4956048" y="3273551"/>
            <a:ext cx="329184" cy="219456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3474720"/>
            <a:ext cx="8412480" cy="86868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6576" rIns="182880" bIns="36576" rtlCol="0" anchor="ctr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Processing Layer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FFFFFF"/>
                </a:solidFill>
                <a:latin typeface="Arial"/>
              </a:rPr>
              <a:t>Cleaning, calendar alignment, return computation (pandas, NumPy, SciPy)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956048" y="4325112"/>
            <a:ext cx="329184" cy="219456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4526279"/>
            <a:ext cx="8412480" cy="868680"/>
          </a:xfrm>
          <a:prstGeom prst="roundRect">
            <a:avLst>
              <a:gd name="adj" fmla="val 6000"/>
            </a:avLst>
          </a:prstGeom>
          <a:solidFill>
            <a:srgbClr val="5B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6576" rIns="182880" bIns="36576" rtlCol="0" anchor="ctr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Data Layer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FFFFFF"/>
                </a:solidFill>
                <a:latin typeface="Arial"/>
              </a:rPr>
              <a:t>Historical price data — stocks, Bitcoin, Ethereum, NIFTY 50 (Yahoo Finance / yfinance)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1371600"/>
            <a:ext cx="187451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Arial"/>
              </a:rPr>
              <a:t>Data 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1664208"/>
            <a:ext cx="1874519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50" b="0" i="0">
                <a:solidFill>
                  <a:srgbClr val="2B2B2B"/>
                </a:solidFill>
                <a:latin typeface="Arial"/>
              </a:rPr>
              <a:t>bottom to top:
raw prices → clean
returns → statistics
→ dashboard 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2834640"/>
            <a:ext cx="187451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Arial"/>
              </a:rPr>
              <a:t>Key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3127248"/>
            <a:ext cx="1874519" cy="2103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50" b="0" i="0">
                <a:solidFill>
                  <a:srgbClr val="2B2B2B"/>
                </a:solidFill>
                <a:latin typeface="Arial"/>
              </a:rPr>
              <a:t>• pandas
• NumPy / SciPy
• Matplotlib / Plotly
• Streamlit
• yfinance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852160"/>
            <a:ext cx="10177272" cy="5029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" rIns="137160" bIns="27432" rtlCol="0" anchor="ctr">
            <a:noAutofit/>
          </a:bodyPr>
          <a:lstStyle/>
          <a:p>
            <a:pPr algn="l"/>
            <a:r>
              <a:rPr sz="1250" b="0" i="1">
                <a:solidFill>
                  <a:srgbClr val="1F4E79"/>
                </a:solidFill>
                <a:latin typeface="Arial"/>
              </a:rPr>
              <a:t>Each layer uses standard, explainable tools; no black-box components.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371600" y="457200"/>
            <a:ext cx="941832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34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325880"/>
            <a:ext cx="11091672" cy="146304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>
            <a:noAutofit/>
          </a:bodyPr>
          <a:lstStyle/>
          <a:p>
            <a:pPr algn="l"/>
            <a:r>
              <a:rPr sz="1200" b="1" i="0">
                <a:solidFill>
                  <a:srgbClr val="9DC3E6"/>
                </a:solidFill>
                <a:latin typeface="Arial"/>
              </a:rPr>
              <a:t>NOVELTY STATEMENT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Arial"/>
              </a:rPr>
              <a:t>This project integrates statistical return-distribution analysis, multi-period analysis (daily, weekly, monthly) and cross-asset comparison (stocks, cryptocurrency, NIFTY 50) into one interactive analytical system, with visual detection of extreme movements.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71800"/>
            <a:ext cx="2103120" cy="26974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685800" rIns="109728" bIns="91440" rtlCol="0" anchor="t">
            <a:no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Arial"/>
              </a:rPr>
              <a:t>Cross-asset comparison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2B2B2B"/>
                </a:solidFill>
                <a:latin typeface="Arial"/>
              </a:rPr>
              <a:t>Stocks, cryptocurrency and NIFTY 50 analyzed with the same statistics and plots.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108960"/>
            <a:ext cx="420624" cy="42062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5778" y="2971800"/>
            <a:ext cx="2103120" cy="26974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685800" rIns="109728" bIns="91440" rtlCol="0" anchor="t">
            <a:no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Arial"/>
              </a:rPr>
              <a:t>Multi-horizon analysis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2B2B2B"/>
                </a:solidFill>
                <a:latin typeface="Arial"/>
              </a:rPr>
              <a:t>One price history studied as daily, weekly and monthly returns to see how the distribution changes.</a:t>
            </a:r>
          </a:p>
        </p:txBody>
      </p:sp>
      <p:sp>
        <p:nvSpPr>
          <p:cNvPr id="10" name="Oval 9"/>
          <p:cNvSpPr/>
          <p:nvPr/>
        </p:nvSpPr>
        <p:spPr>
          <a:xfrm>
            <a:off x="2932938" y="3108960"/>
            <a:ext cx="420624" cy="42062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2916" y="2971800"/>
            <a:ext cx="2103120" cy="26974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685800" rIns="109728" bIns="91440" rtlCol="0" anchor="t">
            <a:no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Arial"/>
              </a:rPr>
              <a:t>Complete distribution profile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2B2B2B"/>
                </a:solidFill>
                <a:latin typeface="Arial"/>
              </a:rPr>
              <a:t>Mean, median, variance, SD, skewness and kurtosis together, linked to risk versus return.</a:t>
            </a:r>
          </a:p>
        </p:txBody>
      </p:sp>
      <p:sp>
        <p:nvSpPr>
          <p:cNvPr id="12" name="Oval 11"/>
          <p:cNvSpPr/>
          <p:nvPr/>
        </p:nvSpPr>
        <p:spPr>
          <a:xfrm>
            <a:off x="5180076" y="3108960"/>
            <a:ext cx="420624" cy="42062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0054" y="2971800"/>
            <a:ext cx="2103120" cy="26974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685800" rIns="109728" bIns="91440" rtlCol="0" anchor="t">
            <a:no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Arial"/>
              </a:rPr>
              <a:t>Visual detection of extremes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2B2B2B"/>
                </a:solidFill>
                <a:latin typeface="Arial"/>
              </a:rPr>
              <a:t>Histograms with a Normal curve, extreme-movement counts and worst/best days.</a:t>
            </a:r>
          </a:p>
        </p:txBody>
      </p:sp>
      <p:sp>
        <p:nvSpPr>
          <p:cNvPr id="14" name="Oval 13"/>
          <p:cNvSpPr/>
          <p:nvPr/>
        </p:nvSpPr>
        <p:spPr>
          <a:xfrm>
            <a:off x="7427214" y="3108960"/>
            <a:ext cx="420624" cy="42062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37192" y="2971800"/>
            <a:ext cx="2103120" cy="26974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685800" rIns="109728" bIns="91440" rtlCol="0" anchor="t">
            <a:no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Arial"/>
              </a:rPr>
              <a:t>Interactive and transparent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2B2B2B"/>
                </a:solidFill>
                <a:latin typeface="Arial"/>
              </a:rPr>
              <a:t>Choose asset, horizon and period. Every result comes from a standard formula, with no black-box model.</a:t>
            </a:r>
          </a:p>
        </p:txBody>
      </p:sp>
      <p:sp>
        <p:nvSpPr>
          <p:cNvPr id="16" name="Oval 15"/>
          <p:cNvSpPr/>
          <p:nvPr/>
        </p:nvSpPr>
        <p:spPr>
          <a:xfrm>
            <a:off x="9674352" y="3108960"/>
            <a:ext cx="420624" cy="42062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52160"/>
            <a:ext cx="11091672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400" b="1" i="1">
                <a:solidFill>
                  <a:srgbClr val="5B7FA6"/>
                </a:solidFill>
                <a:latin typeface="Arial"/>
              </a:rPr>
              <a:t>Contribution: an integrated, explainable analysis workflow for return behavior, not a new prediction model.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1371600" y="457200"/>
            <a:ext cx="941832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34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234440"/>
            <a:ext cx="11091672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350" b="0" i="0">
                <a:solidFill>
                  <a:srgbClr val="2B2B2B"/>
                </a:solidFill>
                <a:latin typeface="Arial"/>
              </a:rPr>
              <a:t>Technically feasible: free historical price data and standard statistical methods, delivered in five phases over 10 weeks.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411480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45720" bIns="0" rtlCol="0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737360"/>
            <a:ext cx="697687" cy="329184"/>
          </a:xfrm>
          <a:prstGeom prst="rect">
            <a:avLst/>
          </a:prstGeom>
          <a:solidFill>
            <a:srgbClr val="1F4E7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W1</a:t>
            </a:r>
          </a:p>
        </p:txBody>
      </p:sp>
      <p:sp>
        <p:nvSpPr>
          <p:cNvPr id="9" name="Rectangle 8"/>
          <p:cNvSpPr/>
          <p:nvPr/>
        </p:nvSpPr>
        <p:spPr>
          <a:xfrm>
            <a:off x="5361127" y="1737360"/>
            <a:ext cx="697687" cy="329184"/>
          </a:xfrm>
          <a:prstGeom prst="rect">
            <a:avLst/>
          </a:prstGeom>
          <a:solidFill>
            <a:srgbClr val="1F4E7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58814" y="1737360"/>
            <a:ext cx="697687" cy="329184"/>
          </a:xfrm>
          <a:prstGeom prst="rect">
            <a:avLst/>
          </a:prstGeom>
          <a:solidFill>
            <a:srgbClr val="1F4E7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56501" y="1737360"/>
            <a:ext cx="697687" cy="329184"/>
          </a:xfrm>
          <a:prstGeom prst="rect">
            <a:avLst/>
          </a:prstGeom>
          <a:solidFill>
            <a:srgbClr val="1F4E7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4188" y="1737360"/>
            <a:ext cx="697687" cy="329184"/>
          </a:xfrm>
          <a:prstGeom prst="rect">
            <a:avLst/>
          </a:prstGeom>
          <a:solidFill>
            <a:srgbClr val="1F4E7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1875" y="1737360"/>
            <a:ext cx="697687" cy="329184"/>
          </a:xfrm>
          <a:prstGeom prst="rect">
            <a:avLst/>
          </a:prstGeom>
          <a:solidFill>
            <a:srgbClr val="1F4E7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49563" y="1737360"/>
            <a:ext cx="697687" cy="329184"/>
          </a:xfrm>
          <a:prstGeom prst="rect">
            <a:avLst/>
          </a:prstGeom>
          <a:solidFill>
            <a:srgbClr val="1F4E7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47250" y="1737360"/>
            <a:ext cx="697687" cy="329184"/>
          </a:xfrm>
          <a:prstGeom prst="rect">
            <a:avLst/>
          </a:prstGeom>
          <a:solidFill>
            <a:srgbClr val="1F4E7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4937" y="1737360"/>
            <a:ext cx="697687" cy="329184"/>
          </a:xfrm>
          <a:prstGeom prst="rect">
            <a:avLst/>
          </a:prstGeom>
          <a:solidFill>
            <a:srgbClr val="1F4E7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42624" y="1737360"/>
            <a:ext cx="697687" cy="329184"/>
          </a:xfrm>
          <a:prstGeom prst="rect">
            <a:avLst/>
          </a:prstGeom>
          <a:solidFill>
            <a:srgbClr val="1F4E7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066543"/>
            <a:ext cx="4114800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45720" bIns="0" rtlCol="0" anchor="ctr">
            <a:no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Phase 1: Data collection and preprocessing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2066543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61127" y="2066543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58814" y="2066543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756501" y="2066543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54188" y="2066543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51875" y="2066543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849563" y="2066543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47250" y="2066543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244937" y="2066543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942624" y="2066543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709159" y="2121408"/>
            <a:ext cx="1303934" cy="310896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Weeks 1-2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487168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45720" bIns="0" rtlCol="0" anchor="ctr">
            <a:no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Phase 2: Return calculation (daily / weekly / monthly)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2487168"/>
            <a:ext cx="69768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361127" y="2487168"/>
            <a:ext cx="69768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58814" y="2487168"/>
            <a:ext cx="69768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756501" y="2487168"/>
            <a:ext cx="69768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454188" y="2487168"/>
            <a:ext cx="69768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51875" y="2487168"/>
            <a:ext cx="69768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849563" y="2487168"/>
            <a:ext cx="69768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547250" y="2487168"/>
            <a:ext cx="69768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244937" y="2487168"/>
            <a:ext cx="69768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942624" y="2487168"/>
            <a:ext cx="69768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104534" y="2542032"/>
            <a:ext cx="1303934" cy="310896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Weeks 3-4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2907791"/>
            <a:ext cx="4114800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45720" bIns="0" rtlCol="0" anchor="ctr">
            <a:no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Phase 3: Statistical analysis of returns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2907791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361127" y="2907791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058814" y="2907791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756501" y="2907791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454188" y="2907791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151875" y="2907791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849563" y="2907791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547250" y="2907791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244937" y="2907791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942624" y="2907791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7499908" y="2962656"/>
            <a:ext cx="1303934" cy="310896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Weeks 5-6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3328415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45720" bIns="0" rtlCol="0" anchor="ctr">
            <a:no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Phase 4: Histograms, curves and extreme-movement views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63440" y="3328415"/>
            <a:ext cx="69768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361127" y="3328415"/>
            <a:ext cx="69768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058814" y="3328415"/>
            <a:ext cx="69768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756501" y="3328415"/>
            <a:ext cx="69768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454188" y="3328415"/>
            <a:ext cx="69768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151875" y="3328415"/>
            <a:ext cx="69768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849563" y="3328415"/>
            <a:ext cx="69768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547250" y="3328415"/>
            <a:ext cx="69768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244937" y="3328415"/>
            <a:ext cx="69768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0942624" y="3328415"/>
            <a:ext cx="69768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895283" y="3383279"/>
            <a:ext cx="1303934" cy="310896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Weeks 7-8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3749039"/>
            <a:ext cx="4114800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45720" bIns="0" rtlCol="0" anchor="ctr">
            <a:no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Phase 5: Comparison, dashboard, testing and report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63440" y="3749039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361127" y="3749039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058814" y="3749039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756501" y="3749039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7454188" y="3749039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151875" y="3749039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849563" y="3749039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547250" y="3749039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0244937" y="3749039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942624" y="3749039"/>
            <a:ext cx="697687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10290657" y="3803903"/>
            <a:ext cx="1303934" cy="310896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Weeks 9-10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371600" y="4535422"/>
            <a:ext cx="3605784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73152" rtlCol="0" anchor="t">
            <a:noAutofit/>
          </a:bodyPr>
          <a:lstStyle/>
          <a:p>
            <a:pPr algn="l"/>
            <a:r>
              <a:rPr sz="1400" b="1" i="0" dirty="0">
                <a:solidFill>
                  <a:srgbClr val="1F4E79"/>
                </a:solidFill>
                <a:latin typeface="Arial"/>
              </a:rPr>
              <a:t>Data and tools (all free)</a:t>
            </a:r>
          </a:p>
          <a:p>
            <a:pPr marL="171450" indent="-171450" algn="l">
              <a:spcBef>
                <a:spcPts val="400"/>
              </a:spcBef>
              <a:buClr>
                <a:srgbClr val="1F4E79"/>
              </a:buClr>
              <a:buFont typeface="Arial"/>
              <a:buChar char="•"/>
            </a:pPr>
            <a:r>
              <a:rPr sz="1250" b="0" i="0" dirty="0">
                <a:solidFill>
                  <a:srgbClr val="2B2B2B"/>
                </a:solidFill>
                <a:latin typeface="Arial"/>
              </a:rPr>
              <a:t>Data: Yahoo Finance via Python </a:t>
            </a:r>
            <a:r>
              <a:rPr sz="1250" b="0" i="0" dirty="0" err="1">
                <a:solidFill>
                  <a:srgbClr val="2B2B2B"/>
                </a:solidFill>
                <a:latin typeface="Arial"/>
              </a:rPr>
              <a:t>yfinance</a:t>
            </a:r>
            <a:endParaRPr sz="1250" b="0" i="0" dirty="0">
              <a:solidFill>
                <a:srgbClr val="2B2B2B"/>
              </a:solidFill>
              <a:latin typeface="Arial"/>
            </a:endParaRPr>
          </a:p>
          <a:p>
            <a:pPr marL="171450" indent="-171450" algn="l">
              <a:spcBef>
                <a:spcPts val="400"/>
              </a:spcBef>
              <a:buClr>
                <a:srgbClr val="1F4E79"/>
              </a:buClr>
              <a:buFont typeface="Arial"/>
              <a:buChar char="•"/>
            </a:pPr>
            <a:r>
              <a:rPr sz="1250" b="0" i="0" dirty="0">
                <a:solidFill>
                  <a:srgbClr val="2B2B2B"/>
                </a:solidFill>
                <a:latin typeface="Arial"/>
              </a:rPr>
              <a:t>Analysis: pandas, NumPy, SciPy</a:t>
            </a:r>
          </a:p>
          <a:p>
            <a:pPr marL="171450" indent="-171450" algn="l">
              <a:spcBef>
                <a:spcPts val="400"/>
              </a:spcBef>
              <a:buClr>
                <a:srgbClr val="1F4E79"/>
              </a:buClr>
              <a:buFont typeface="Arial"/>
              <a:buChar char="•"/>
            </a:pPr>
            <a:r>
              <a:rPr sz="1250" b="0" i="0" dirty="0">
                <a:solidFill>
                  <a:srgbClr val="2B2B2B"/>
                </a:solidFill>
                <a:latin typeface="Arial"/>
              </a:rPr>
              <a:t>Plots: Matplotlib or </a:t>
            </a:r>
            <a:r>
              <a:rPr sz="1250" b="0" i="0" dirty="0" err="1">
                <a:solidFill>
                  <a:srgbClr val="2B2B2B"/>
                </a:solidFill>
                <a:latin typeface="Arial"/>
              </a:rPr>
              <a:t>Plotly</a:t>
            </a:r>
            <a:endParaRPr sz="1250" b="0" i="0" dirty="0">
              <a:solidFill>
                <a:srgbClr val="2B2B2B"/>
              </a:solidFill>
              <a:latin typeface="Arial"/>
            </a:endParaRPr>
          </a:p>
          <a:p>
            <a:pPr marL="171450" indent="-171450" algn="l">
              <a:spcBef>
                <a:spcPts val="400"/>
              </a:spcBef>
              <a:buClr>
                <a:srgbClr val="1F4E79"/>
              </a:buClr>
              <a:buFont typeface="Arial"/>
              <a:buChar char="•"/>
            </a:pPr>
            <a:r>
              <a:rPr sz="1250" b="0" i="0" dirty="0">
                <a:solidFill>
                  <a:srgbClr val="2B2B2B"/>
                </a:solidFill>
                <a:latin typeface="Arial"/>
              </a:rPr>
              <a:t>Interface: </a:t>
            </a:r>
            <a:r>
              <a:rPr sz="1250" b="0" i="0" dirty="0" err="1">
                <a:solidFill>
                  <a:srgbClr val="2B2B2B"/>
                </a:solidFill>
                <a:latin typeface="Arial"/>
              </a:rPr>
              <a:t>Streamlit</a:t>
            </a:r>
            <a:r>
              <a:rPr sz="1250" b="0" i="0" dirty="0">
                <a:solidFill>
                  <a:srgbClr val="2B2B2B"/>
                </a:solidFill>
                <a:latin typeface="Arial"/>
              </a:rPr>
              <a:t> dashboard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184136" y="4535422"/>
            <a:ext cx="3605784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73152" rtlCol="0" anchor="t">
            <a:noAutofit/>
          </a:bodyPr>
          <a:lstStyle/>
          <a:p>
            <a:pPr algn="l"/>
            <a:r>
              <a:rPr sz="1400" b="1" i="0" dirty="0">
                <a:solidFill>
                  <a:srgbClr val="1F4E79"/>
                </a:solidFill>
                <a:latin typeface="Arial"/>
              </a:rPr>
              <a:t>Risks and how we handle them</a:t>
            </a:r>
          </a:p>
          <a:p>
            <a:pPr marL="171450" indent="-171450" algn="l">
              <a:spcBef>
                <a:spcPts val="400"/>
              </a:spcBef>
              <a:buClr>
                <a:srgbClr val="1F4E79"/>
              </a:buClr>
              <a:buFont typeface="Arial"/>
              <a:buChar char="•"/>
            </a:pPr>
            <a:r>
              <a:rPr sz="1250" b="0" i="0" dirty="0">
                <a:solidFill>
                  <a:srgbClr val="2B2B2B"/>
                </a:solidFill>
                <a:latin typeface="Arial"/>
              </a:rPr>
              <a:t>Crypto trades every day, stocks do not: use a common date range and compare weekly/monthly returns</a:t>
            </a:r>
          </a:p>
          <a:p>
            <a:pPr marL="171450" indent="-171450" algn="l">
              <a:spcBef>
                <a:spcPts val="400"/>
              </a:spcBef>
              <a:buClr>
                <a:srgbClr val="1F4E79"/>
              </a:buClr>
              <a:buFont typeface="Arial"/>
              <a:buChar char="•"/>
            </a:pPr>
            <a:r>
              <a:rPr sz="1250" b="0" i="0" dirty="0">
                <a:solidFill>
                  <a:srgbClr val="2B2B2B"/>
                </a:solidFill>
                <a:latin typeface="Arial"/>
              </a:rPr>
              <a:t>Few monthly points: use about 8 years of data and interpret carefully</a:t>
            </a:r>
          </a:p>
          <a:p>
            <a:pPr marL="171450" indent="-171450" algn="l">
              <a:spcBef>
                <a:spcPts val="400"/>
              </a:spcBef>
              <a:buClr>
                <a:srgbClr val="1F4E79"/>
              </a:buClr>
              <a:buFont typeface="Arial"/>
              <a:buChar char="•"/>
            </a:pPr>
            <a:r>
              <a:rPr sz="1250" b="0" i="0" dirty="0">
                <a:solidFill>
                  <a:srgbClr val="2B2B2B"/>
                </a:solidFill>
                <a:latin typeface="Arial"/>
              </a:rPr>
              <a:t>Different currencies: analyze % returns, not prices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2407</Words>
  <Application>Microsoft Office PowerPoint</Application>
  <PresentationFormat>Widescreen</PresentationFormat>
  <Paragraphs>264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K Pranav</cp:lastModifiedBy>
  <cp:revision>36</cp:revision>
  <dcterms:created xsi:type="dcterms:W3CDTF">2026-08-08T06:33:56Z</dcterms:created>
  <dcterms:modified xsi:type="dcterms:W3CDTF">2026-09-22T05:37:17Z</dcterms:modified>
</cp:coreProperties>
</file>